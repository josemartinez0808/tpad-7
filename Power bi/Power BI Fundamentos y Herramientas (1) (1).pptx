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Poppins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hz3cnGFlW8OCAjxgu85NQ+Y0Nc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bold.fntdata"/><Relationship Id="rId14" Type="http://schemas.openxmlformats.org/officeDocument/2006/relationships/font" Target="fonts/Poppins-regular.fntdata"/><Relationship Id="rId17" Type="http://schemas.openxmlformats.org/officeDocument/2006/relationships/font" Target="fonts/Poppins-boldItalic.fntdata"/><Relationship Id="rId16" Type="http://schemas.openxmlformats.org/officeDocument/2006/relationships/font" Target="fonts/Poppins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52423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97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96025" y="2822954"/>
            <a:ext cx="116016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50"/>
              <a:buFont typeface="Arial"/>
              <a:buNone/>
            </a:pPr>
            <a:r>
              <a:rPr b="1" i="0" lang="en-US" sz="5250" u="none" cap="none" strike="noStrike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Power BI</a:t>
            </a:r>
            <a:endParaRPr b="0" i="0" sz="14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571500" y="3415754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571500" y="4259609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By: Jose Suarez Martinez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30065"/>
            <a:ext cx="2619375" cy="29027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1375" y="2430065"/>
            <a:ext cx="2619375" cy="29027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2430065"/>
            <a:ext cx="2619375" cy="29027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01125" y="2430065"/>
            <a:ext cx="2619375" cy="2902743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"/>
          <p:cNvSpPr txBox="1"/>
          <p:nvPr/>
        </p:nvSpPr>
        <p:spPr>
          <a:xfrm>
            <a:off x="806053" y="3363515"/>
            <a:ext cx="2150268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Conectar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857250" y="3944540"/>
            <a:ext cx="2047875" cy="959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Extraer datos de cientos de orígenes como Excel, SQL, Web, Azure y más de forma unificada.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3615928" y="3363515"/>
            <a:ext cx="2150268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Transformar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3667125" y="3944540"/>
            <a:ext cx="2047875" cy="959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Limpiar y modelar datos complejos mediante Power Query sin necesidad de saber código avanzado.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6425803" y="3363515"/>
            <a:ext cx="2150268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Visualizar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6477000" y="3944540"/>
            <a:ext cx="2047875" cy="959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Crear informes interactivos de alto impacto visual que facilitan la toma de decisiones críticas.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9235678" y="3363515"/>
            <a:ext cx="2150268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Compartir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9286875" y="3944540"/>
            <a:ext cx="2047875" cy="959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Publicar informes en la nube y colaborar con equipos en tiempo real de forma segura.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05" name="Google Shape;10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14500" y="280154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76750" y="280154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10437" y="280154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44125" y="280154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252423"/>
                </a:solidFill>
                <a:latin typeface="Poppins"/>
                <a:ea typeface="Poppins"/>
                <a:cs typeface="Poppins"/>
                <a:sym typeface="Poppins"/>
              </a:rPr>
              <a:t>¿Qué se puede hacer con Power BI?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2C8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 txBox="1"/>
          <p:nvPr/>
        </p:nvSpPr>
        <p:spPr>
          <a:xfrm>
            <a:off x="762000" y="571500"/>
            <a:ext cx="5000625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252423"/>
                </a:solidFill>
                <a:latin typeface="Poppins"/>
                <a:ea typeface="Poppins"/>
                <a:cs typeface="Poppins"/>
                <a:sym typeface="Poppins"/>
              </a:rPr>
              <a:t>Paso a Paso: Extracción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476250" y="486175"/>
            <a:ext cx="95400" cy="1238400"/>
          </a:xfrm>
          <a:prstGeom prst="rect">
            <a:avLst/>
          </a:prstGeom>
          <a:solidFill>
            <a:srgbClr val="F2C8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571500" y="2095500"/>
            <a:ext cx="4953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1. Selección del Origen:</a:t>
            </a: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Haz clic en el icono "Obtener datos" y selecciona el tipo de archivo (Texto o SCV).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571500" y="2847209"/>
            <a:ext cx="4953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2. Navegador:</a:t>
            </a: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Se abrirá una ventana de navegación donde podrás ver todas las hojas o tablas disponibles en el archivo de origen.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571500" y="3598893"/>
            <a:ext cx="4953000" cy="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3. Previsualización:</a:t>
            </a: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Al marcar una tabla, Power BI muestra una vista previa a la derecha para confirmar que es el conjunto de datos correcto antes de cargarlo.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3313" y="410350"/>
            <a:ext cx="4352925" cy="569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73300" y="-6400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3314700"/>
            <a:ext cx="8572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5"/>
          <p:cNvSpPr txBox="1"/>
          <p:nvPr/>
        </p:nvSpPr>
        <p:spPr>
          <a:xfrm>
            <a:off x="1123950" y="4171950"/>
            <a:ext cx="1276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2C811"/>
                </a:solidFill>
                <a:latin typeface="Lato"/>
                <a:ea typeface="Lato"/>
                <a:cs typeface="Lato"/>
                <a:sym typeface="Lato"/>
              </a:rPr>
              <a:t>Transformar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3301000" y="1280083"/>
            <a:ext cx="8601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Acceso Directo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3301000" y="1715733"/>
            <a:ext cx="819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Para abrir el Editor de Power Query, debes localizar el icono </a:t>
            </a:r>
            <a:r>
              <a:rPr b="1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"Transformar datos"</a:t>
            </a: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3301000" y="2137047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3491488" y="2162419"/>
            <a:ext cx="7810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Ubicación:</a:t>
            </a: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Pestaña Inicio, grupo "Consultas".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3301075" y="2558382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3491488" y="2558380"/>
            <a:ext cx="78105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Acción:</a:t>
            </a: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Al pulsarlo, se abre una ventana independiente fuera de la interfaz principal de Power BI Desktop.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252423"/>
                </a:solidFill>
                <a:latin typeface="Poppins"/>
                <a:ea typeface="Poppins"/>
                <a:cs typeface="Poppins"/>
                <a:sym typeface="Poppins"/>
              </a:rPr>
              <a:t>Icono de Power Query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2C8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05525" y="3245025"/>
            <a:ext cx="3912525" cy="345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6"/>
          <p:cNvSpPr txBox="1"/>
          <p:nvPr/>
        </p:nvSpPr>
        <p:spPr>
          <a:xfrm>
            <a:off x="571500" y="1632279"/>
            <a:ext cx="5334000" cy="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Power Query</a:t>
            </a: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es el motor de preparación de datos de Microsoft. Funciona mediante un flujo de pasos grabados que transforman los datos en bruto en información estructurada.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571500" y="2709262"/>
            <a:ext cx="5334000" cy="13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Cada cambio que realizas (quitar columnas, filtrar filas, cambiar tipos de datos) se guarda en el panel de </a:t>
            </a:r>
            <a:r>
              <a:rPr b="1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"Pasos Aplicados"</a:t>
            </a: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, lo que permite replicar la limpieza automáticamente al actualizar los datos.</a:t>
            </a:r>
            <a:endParaRPr b="0" i="0" sz="1350" u="none" cap="none" strike="noStrike">
              <a:solidFill>
                <a:srgbClr val="44444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44444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Se encuentra en la parte superior </a:t>
            </a:r>
            <a:endParaRPr b="0" i="0" sz="1350" u="none" cap="none" strike="noStrike">
              <a:solidFill>
                <a:srgbClr val="44444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" name="Google Shape;145;p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252423"/>
                </a:solidFill>
                <a:latin typeface="Poppins"/>
                <a:ea typeface="Poppins"/>
                <a:cs typeface="Poppins"/>
                <a:sym typeface="Poppins"/>
              </a:rPr>
              <a:t>Power Query: Funcionamiento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2C8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0825" y="1943800"/>
            <a:ext cx="5831757" cy="315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7"/>
          <p:cNvSpPr/>
          <p:nvPr/>
        </p:nvSpPr>
        <p:spPr>
          <a:xfrm>
            <a:off x="571500" y="3565326"/>
            <a:ext cx="11049000" cy="38100"/>
          </a:xfrm>
          <a:prstGeom prst="rect">
            <a:avLst/>
          </a:prstGeom>
          <a:solidFill>
            <a:srgbClr val="F2C8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 txBox="1"/>
          <p:nvPr/>
        </p:nvSpPr>
        <p:spPr>
          <a:xfrm>
            <a:off x="507968" y="3708201"/>
            <a:ext cx="266830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1. Iniciar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 txBox="1"/>
          <p:nvPr/>
        </p:nvSpPr>
        <p:spPr>
          <a:xfrm>
            <a:off x="571500" y="4289226"/>
            <a:ext cx="254124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Clic en "Transformar datos" para cargar el editor.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 txBox="1"/>
          <p:nvPr/>
        </p:nvSpPr>
        <p:spPr>
          <a:xfrm>
            <a:off x="3343888" y="3708201"/>
            <a:ext cx="266830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2. Limpieza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 txBox="1"/>
          <p:nvPr/>
        </p:nvSpPr>
        <p:spPr>
          <a:xfrm>
            <a:off x="3407419" y="4289226"/>
            <a:ext cx="254124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Eliminar nulos, filtrar errores y renombrar columnas.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 txBox="1"/>
          <p:nvPr/>
        </p:nvSpPr>
        <p:spPr>
          <a:xfrm>
            <a:off x="6179808" y="3708201"/>
            <a:ext cx="266830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3. Modelar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 txBox="1"/>
          <p:nvPr/>
        </p:nvSpPr>
        <p:spPr>
          <a:xfrm>
            <a:off x="6243339" y="4289226"/>
            <a:ext cx="254124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Cambiar tipos de datos (Fecha, Número, Texto).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 txBox="1"/>
          <p:nvPr/>
        </p:nvSpPr>
        <p:spPr>
          <a:xfrm>
            <a:off x="9015728" y="3708201"/>
            <a:ext cx="266830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4. Aplicar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 txBox="1"/>
          <p:nvPr/>
        </p:nvSpPr>
        <p:spPr>
          <a:xfrm>
            <a:off x="9079259" y="4289226"/>
            <a:ext cx="254124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Clic en "Cerrar y aplicar" para llevar los datos al modelo.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252423"/>
                </a:solidFill>
                <a:latin typeface="Poppins"/>
                <a:ea typeface="Poppins"/>
                <a:cs typeface="Poppins"/>
                <a:sym typeface="Poppins"/>
              </a:rPr>
              <a:t>Paso a Paso: Transformación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2C8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1746795" y="3327201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252423"/>
          </a:solidFill>
          <a:ln cap="flat" cmpd="sng" w="38100">
            <a:solidFill>
              <a:srgbClr val="F2C8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582715" y="3327201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252423"/>
          </a:solidFill>
          <a:ln cap="flat" cmpd="sng" w="38100">
            <a:solidFill>
              <a:srgbClr val="F2C8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7418635" y="3327201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252423"/>
          </a:solidFill>
          <a:ln cap="flat" cmpd="sng" w="38100">
            <a:solidFill>
              <a:srgbClr val="F2C8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10254555" y="3327201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252423"/>
          </a:solidFill>
          <a:ln cap="flat" cmpd="sng" w="38100">
            <a:solidFill>
              <a:srgbClr val="F2C8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4"/>
          <p:cNvSpPr txBox="1"/>
          <p:nvPr/>
        </p:nvSpPr>
        <p:spPr>
          <a:xfrm>
            <a:off x="571500" y="2358925"/>
            <a:ext cx="56007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Vista de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"/>
          <p:cNvSpPr txBox="1"/>
          <p:nvPr/>
        </p:nvSpPr>
        <p:spPr>
          <a:xfrm>
            <a:off x="571500" y="2939950"/>
            <a:ext cx="533400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Las relaciones y llaves de las tablas se gestionan exclusivamente en la </a:t>
            </a:r>
            <a:r>
              <a:rPr b="1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Vista de Modelo</a:t>
            </a: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. Esta vista permite visualizar el esquema completo de datos.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"/>
          <p:cNvSpPr txBox="1"/>
          <p:nvPr/>
        </p:nvSpPr>
        <p:spPr>
          <a:xfrm>
            <a:off x="857250" y="3813036"/>
            <a:ext cx="95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"/>
          <p:cNvSpPr txBox="1"/>
          <p:nvPr/>
        </p:nvSpPr>
        <p:spPr>
          <a:xfrm>
            <a:off x="952500" y="3812083"/>
            <a:ext cx="49530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Identificación:</a:t>
            </a: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Es el tercer icono en la barra de navegación lateral izquierda.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"/>
          <p:cNvSpPr txBox="1"/>
          <p:nvPr/>
        </p:nvSpPr>
        <p:spPr>
          <a:xfrm>
            <a:off x="857250" y="4292857"/>
            <a:ext cx="95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"/>
          <p:cNvSpPr txBox="1"/>
          <p:nvPr/>
        </p:nvSpPr>
        <p:spPr>
          <a:xfrm>
            <a:off x="964950" y="4366875"/>
            <a:ext cx="48138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Función:</a:t>
            </a: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Aquí puedes arrastrar campos para crear relaciones entre tablas y definir la dirección del filtro.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4"/>
          <p:cNvSpPr txBox="1"/>
          <p:nvPr/>
        </p:nvSpPr>
        <p:spPr>
          <a:xfrm>
            <a:off x="857250" y="4772679"/>
            <a:ext cx="95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952500" y="4940452"/>
            <a:ext cx="4953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Propiedades:</a:t>
            </a: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Permite configurar la cardinalidad (uno a muchos, uno a uno) y la integridad referencial.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252423"/>
                </a:solidFill>
                <a:latin typeface="Poppins"/>
                <a:ea typeface="Poppins"/>
                <a:cs typeface="Poppins"/>
                <a:sym typeface="Poppins"/>
              </a:rPr>
              <a:t>¿Dónde gestionar relaciones?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2C8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1076" y="1305955"/>
            <a:ext cx="5334000" cy="52522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140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76437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8"/>
          <p:cNvSpPr txBox="1"/>
          <p:nvPr/>
        </p:nvSpPr>
        <p:spPr>
          <a:xfrm>
            <a:off x="571500" y="1860343"/>
            <a:ext cx="5334000" cy="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El </a:t>
            </a:r>
            <a:r>
              <a:rPr b="1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Modelado</a:t>
            </a: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consiste en conectar diferentes tablas para que "hablen" entre sí. Esto permite realizar análisis cruzados entre distintas fuentes de información.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91" name="Google Shape;19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1985962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8"/>
          <p:cNvSpPr txBox="1"/>
          <p:nvPr/>
        </p:nvSpPr>
        <p:spPr>
          <a:xfrm>
            <a:off x="857250" y="3642479"/>
            <a:ext cx="95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8"/>
          <p:cNvSpPr txBox="1"/>
          <p:nvPr/>
        </p:nvSpPr>
        <p:spPr>
          <a:xfrm>
            <a:off x="952500" y="3641526"/>
            <a:ext cx="49530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Relaciones:</a:t>
            </a: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Conectan tablas mediante llaves primarias y foráneas.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8"/>
          <p:cNvSpPr txBox="1"/>
          <p:nvPr/>
        </p:nvSpPr>
        <p:spPr>
          <a:xfrm>
            <a:off x="857175" y="4308190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8"/>
          <p:cNvSpPr txBox="1"/>
          <p:nvPr/>
        </p:nvSpPr>
        <p:spPr>
          <a:xfrm>
            <a:off x="952500" y="4308212"/>
            <a:ext cx="4953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Cálculos (DAX):</a:t>
            </a: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Creación de medidas y columnas calculadas para métricas avanzadas.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8"/>
          <p:cNvSpPr txBox="1"/>
          <p:nvPr/>
        </p:nvSpPr>
        <p:spPr>
          <a:xfrm>
            <a:off x="857175" y="4943711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8"/>
          <p:cNvSpPr txBox="1"/>
          <p:nvPr/>
        </p:nvSpPr>
        <p:spPr>
          <a:xfrm>
            <a:off x="952500" y="4942884"/>
            <a:ext cx="4953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Jerarquías:</a:t>
            </a: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Organización de datos para permitir el "Drill-down" (desglose).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252423"/>
                </a:solidFill>
                <a:latin typeface="Poppins"/>
                <a:ea typeface="Poppins"/>
                <a:cs typeface="Poppins"/>
                <a:sym typeface="Poppins"/>
              </a:rPr>
              <a:t>Modelado: El Cerebro del Informe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2C8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